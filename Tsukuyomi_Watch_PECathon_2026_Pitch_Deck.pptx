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23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0231C"/>
                </a:solidFill>
                <a:latin typeface="Consolas"/>
              </a:defRPr>
            </a:pPr>
            <a:r>
              <a:t>PECATHON 2026 OFFICIAL SUBMISSION  •  TEAM PF-XBZYZH  •  月読命</a:t>
            </a:r>
          </a:p>
          <a:p>
            <a:pPr>
              <a:defRPr sz="4400" b="1">
                <a:solidFill>
                  <a:srgbClr val="FFFFFF"/>
                </a:solidFill>
                <a:latin typeface="Georgia"/>
              </a:defRPr>
            </a:pPr>
            <a:r>
              <a:t>TSUKUYOMI WATCH</a:t>
            </a:r>
          </a:p>
          <a:p>
            <a:pPr>
              <a:spcAft>
                <a:spcPts val="800"/>
              </a:spcAft>
              <a:defRPr sz="1600" b="1">
                <a:solidFill>
                  <a:srgbClr val="FCE38A"/>
                </a:solidFill>
                <a:latin typeface="Georgia"/>
              </a:defRPr>
            </a:pPr>
            <a:r>
              <a:t>The Samurai's Celestial Guide — Scientific Astrophotography, Photutils Source Detection &amp; Live Ephemeris Sanctuary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834640"/>
            <a:ext cx="2542032" cy="2697480"/>
          </a:xfrm>
          <a:prstGeom prst="roundRect">
            <a:avLst/>
          </a:prstGeom>
          <a:solidFill>
            <a:srgbClr val="0C1018"/>
          </a:solidFill>
          <a:ln w="15875">
            <a:solidFill>
              <a:srgbClr val="C9A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907792"/>
            <a:ext cx="2267712" cy="36576"/>
          </a:xfrm>
          <a:prstGeom prst="rect">
            <a:avLst/>
          </a:prstGeom>
          <a:solidFill>
            <a:srgbClr val="E023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3017520"/>
            <a:ext cx="2139696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CE38A"/>
                </a:solidFill>
                <a:latin typeface="Georgia"/>
              </a:defRPr>
            </a:pPr>
            <a:r>
              <a:t>I. Watchtower Map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Interactive Leaflet dark-sky sanctuary map.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Overpass API observatory &amp; viewpoint finder.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Transparent Night Honor Score formula.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2834640"/>
            <a:ext cx="2542032" cy="2697480"/>
          </a:xfrm>
          <a:prstGeom prst="roundRect">
            <a:avLst/>
          </a:prstGeom>
          <a:solidFill>
            <a:srgbClr val="0C1018"/>
          </a:solidFill>
          <a:ln w="15875">
            <a:solidFill>
              <a:srgbClr val="C9A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93591" y="2907792"/>
            <a:ext cx="2267712" cy="36576"/>
          </a:xfrm>
          <a:prstGeom prst="rect">
            <a:avLst/>
          </a:prstGeom>
          <a:solidFill>
            <a:srgbClr val="E023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3017520"/>
            <a:ext cx="2139696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CE38A"/>
                </a:solidFill>
                <a:latin typeface="Georgia"/>
              </a:defRPr>
            </a:pPr>
            <a:r>
              <a:t>II. Spirit Lens AI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Real-ESRGAN + OpenCV CLAHE restoration.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Photutils &amp; Astropy star/galaxy detection.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Original vs. Restored artifact cross-matching.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2834640"/>
            <a:ext cx="2542032" cy="2697480"/>
          </a:xfrm>
          <a:prstGeom prst="roundRect">
            <a:avLst/>
          </a:prstGeom>
          <a:solidFill>
            <a:srgbClr val="0C1018"/>
          </a:solidFill>
          <a:ln w="15875">
            <a:solidFill>
              <a:srgbClr val="C9A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18504" y="2907792"/>
            <a:ext cx="2267712" cy="36576"/>
          </a:xfrm>
          <a:prstGeom prst="rect">
            <a:avLst/>
          </a:prstGeom>
          <a:solidFill>
            <a:srgbClr val="E023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3017520"/>
            <a:ext cx="2139696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CE38A"/>
                </a:solidFill>
                <a:latin typeface="Georgia"/>
              </a:defRPr>
            </a:pPr>
            <a:r>
              <a:t>III. Live Ephemeris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US Naval Observatory (USNO) Moon Phases.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IMCCE OPALE Lunar Eclipse predictions.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Open-Meteo hourly cloud, humidity &amp; visibility.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2834640"/>
            <a:ext cx="2542032" cy="2697480"/>
          </a:xfrm>
          <a:prstGeom prst="roundRect">
            <a:avLst/>
          </a:prstGeom>
          <a:solidFill>
            <a:srgbClr val="0C1018"/>
          </a:solidFill>
          <a:ln w="15875">
            <a:solidFill>
              <a:srgbClr val="C9A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43416" y="2907792"/>
            <a:ext cx="2267712" cy="36576"/>
          </a:xfrm>
          <a:prstGeom prst="rect">
            <a:avLst/>
          </a:prstGeom>
          <a:solidFill>
            <a:srgbClr val="E023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07424" y="3017520"/>
            <a:ext cx="2139696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CE38A"/>
                </a:solidFill>
                <a:latin typeface="Georgia"/>
              </a:defRPr>
            </a:pPr>
            <a:r>
              <a:t>IV. Samurai Honours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Auth-gated Chapter V dedicated web page.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88 IAU Constellations + EXIF camera audit.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Supabase Cloud Postgres &amp; Storage bucket.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8064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Consolas"/>
              </a:defRPr>
            </a:pPr>
            <a:r>
              <a:t>LIVE PRODUCTION: https://tsukuyomi-watch-mu.vercel.app   |   GITHUB: github.com/PECathon-2026/Team-PF-XBZYZH   |   41/41 PYTEST PASSING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23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0231C"/>
                </a:solidFill>
                <a:latin typeface="Consolas"/>
              </a:defRPr>
            </a:pPr>
            <a:r>
              <a:t>01 •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92608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C9A24A"/>
                </a:solidFill>
                <a:latin typeface="Consolas"/>
              </a:defRPr>
            </a:pPr>
            <a:r>
              <a:t>PECathon 2026 • Slide 2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Why Current Stargazing &amp; Astrophotography Tools Fail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0700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68F"/>
                </a:solidFill>
                <a:latin typeface="Calibri"/>
              </a:defRPr>
            </a:pPr>
            <a:r>
              <a:t>Amateur astronomers, students, and citizen scientists face four critical pain points between sky observation and scientific truth.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5257800" cy="2103120"/>
          </a:xfrm>
          <a:prstGeom prst="roundRect">
            <a:avLst/>
          </a:prstGeom>
          <a:solidFill>
            <a:srgbClr val="0C1018"/>
          </a:solidFill>
          <a:ln w="15875">
            <a:solidFill>
              <a:srgbClr val="C9A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47672"/>
            <a:ext cx="4983480" cy="36576"/>
          </a:xfrm>
          <a:prstGeom prst="rect">
            <a:avLst/>
          </a:prstGeom>
          <a:solidFill>
            <a:srgbClr val="E023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057400"/>
            <a:ext cx="4855464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CE38A"/>
                </a:solidFill>
                <a:latin typeface="Georgia"/>
              </a:defRPr>
            </a:pPr>
            <a:r>
              <a:t>1. Generative AI Hallucinations in Night Photos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Consumer AI enhancers fabricate non-existent stars and nebulae.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Destroys photometric integrity and misleads amateur observers.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Our Solution: Deterministic CLAHE + Photutils cross-matching that flags 'restored_only' artifacts.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74519"/>
            <a:ext cx="5257800" cy="2103120"/>
          </a:xfrm>
          <a:prstGeom prst="roundRect">
            <a:avLst/>
          </a:prstGeom>
          <a:solidFill>
            <a:srgbClr val="0C1018"/>
          </a:solidFill>
          <a:ln w="15875">
            <a:solidFill>
              <a:srgbClr val="C9A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947672"/>
            <a:ext cx="4983480" cy="36576"/>
          </a:xfrm>
          <a:prstGeom prst="rect">
            <a:avLst/>
          </a:prstGeom>
          <a:solidFill>
            <a:srgbClr val="E023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2057400"/>
            <a:ext cx="4855464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CE38A"/>
                </a:solidFill>
                <a:latin typeface="Georgia"/>
              </a:defRPr>
            </a:pPr>
            <a:r>
              <a:t>2. Opaque Black-Box Stargazing Scores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Existing apps output arbitrary visibility scores without disclosing formulas.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Conflate numerical weather forecasts (NWP) with live telescope feeds.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Our Solution: Disclosed mathematical weights + automatic weight rebalancing when sensors are missing.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206240"/>
            <a:ext cx="5257800" cy="2103120"/>
          </a:xfrm>
          <a:prstGeom prst="roundRect">
            <a:avLst/>
          </a:prstGeom>
          <a:solidFill>
            <a:srgbClr val="0C1018"/>
          </a:solidFill>
          <a:ln w="15875">
            <a:solidFill>
              <a:srgbClr val="C9A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4279392"/>
            <a:ext cx="4983480" cy="36576"/>
          </a:xfrm>
          <a:prstGeom prst="rect">
            <a:avLst/>
          </a:prstGeom>
          <a:solidFill>
            <a:srgbClr val="E023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4389120"/>
            <a:ext cx="4855464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CE38A"/>
                </a:solidFill>
                <a:latin typeface="Georgia"/>
              </a:defRPr>
            </a:pPr>
            <a:r>
              <a:t>3. Fragmented Ephemeris &amp; Archival Portals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Checking USNO moon phases, IMCCE eclipses, and NASA SkyView plates requires 6+ legacy tools.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Timestamps are rarely normalized from UTC to the observer's local timezone.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Our Solution: Unified sanctuary console with live USNO, IMCCE, Open-Meteo &amp; NASA SkyView drawers.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4206240"/>
            <a:ext cx="5257800" cy="2103120"/>
          </a:xfrm>
          <a:prstGeom prst="roundRect">
            <a:avLst/>
          </a:prstGeom>
          <a:solidFill>
            <a:srgbClr val="0C1018"/>
          </a:solidFill>
          <a:ln w="15875">
            <a:solidFill>
              <a:srgbClr val="C9A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4279392"/>
            <a:ext cx="4983480" cy="36576"/>
          </a:xfrm>
          <a:prstGeom prst="rect">
            <a:avLst/>
          </a:prstGeom>
          <a:solidFill>
            <a:srgbClr val="E023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7" y="4389120"/>
            <a:ext cx="4855464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CE38A"/>
                </a:solidFill>
                <a:latin typeface="Georgia"/>
              </a:defRPr>
            </a:pPr>
            <a:r>
              <a:t>4. Unverified Community Observation Leaderboards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Social astronomy walls are flooded with Midjourney/Canva edits and stripped screenshots.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Our Solution: 5-step EXIF hardware sensor, GPS coordinate, and night-window (17:00-06:00) verification stored in Supabase.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23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0231C"/>
                </a:solidFill>
                <a:latin typeface="Consolas"/>
              </a:defRPr>
            </a:pPr>
            <a:r>
              <a:t>02 •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92608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C9A24A"/>
                </a:solidFill>
                <a:latin typeface="Consolas"/>
              </a:defRPr>
            </a:pPr>
            <a:r>
              <a:t>PECathon 2026 • Slide 3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Full-Stack Scientific &amp; Cloud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0700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68F"/>
                </a:solidFill>
                <a:latin typeface="Calibri"/>
              </a:defRPr>
            </a:pPr>
            <a:r>
              <a:t>Engineered for zero-downtime resilience: React 19 + WebGL frontend on Vercel, FastAPI scientific engine, and Supabase Cloud Postgres.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3474720" cy="4389120"/>
          </a:xfrm>
          <a:prstGeom prst="roundRect">
            <a:avLst/>
          </a:prstGeom>
          <a:solidFill>
            <a:srgbClr val="0C1018"/>
          </a:solidFill>
          <a:ln w="15875">
            <a:solidFill>
              <a:srgbClr val="C9A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47672"/>
            <a:ext cx="3200400" cy="36576"/>
          </a:xfrm>
          <a:prstGeom prst="rect">
            <a:avLst/>
          </a:prstGeom>
          <a:solidFill>
            <a:srgbClr val="E023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057400"/>
            <a:ext cx="307238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CE38A"/>
                </a:solidFill>
                <a:latin typeface="Georgia"/>
              </a:defRPr>
            </a:pPr>
            <a:r>
              <a:t>Frontend Sanctuary (Vercel)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React 19 + TypeScript + Vite 8 + Tailwind CSS v4.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Section 0: Fullscreen 3D Kage Temple WebGL scene.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5-Button Navbar: Watchtower, Celestial Scroll, Spirit Lens, Dojo Score, and Auth-Gated Samurai Honours.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Client-side Canvas CLAHE &amp; 2D MAD source detection fallback guarantees 0ms downtime.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74519"/>
            <a:ext cx="3474720" cy="4389120"/>
          </a:xfrm>
          <a:prstGeom prst="roundRect">
            <a:avLst/>
          </a:prstGeom>
          <a:solidFill>
            <a:srgbClr val="0C1018"/>
          </a:solidFill>
          <a:ln w="15875">
            <a:solidFill>
              <a:srgbClr val="C9A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947672"/>
            <a:ext cx="3200400" cy="36576"/>
          </a:xfrm>
          <a:prstGeom prst="rect">
            <a:avLst/>
          </a:prstGeom>
          <a:solidFill>
            <a:srgbClr val="E023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2057400"/>
            <a:ext cx="307238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CE38A"/>
                </a:solidFill>
                <a:latin typeface="Georgia"/>
              </a:defRPr>
            </a:pPr>
            <a:r>
              <a:t>Scientific Backend (FastAPI)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Python 3.11 + FastAPI + Pydantic validation.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Astropy &amp; Photutils: Background2D, DAOStarFinder, detect_sources, deblend_sources, SourceCatalog.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Real-ESRGAN (SRVGGNetCompact &amp; RRDBNet) + OpenCV restoration.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Multi-wavelength NASA SkyView &amp; Transient Spectral routers.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74519"/>
            <a:ext cx="3474720" cy="4389120"/>
          </a:xfrm>
          <a:prstGeom prst="roundRect">
            <a:avLst/>
          </a:prstGeom>
          <a:solidFill>
            <a:srgbClr val="0C1018"/>
          </a:solidFill>
          <a:ln w="15875">
            <a:solidFill>
              <a:srgbClr val="C9A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80" y="1947672"/>
            <a:ext cx="3200400" cy="36576"/>
          </a:xfrm>
          <a:prstGeom prst="rect">
            <a:avLst/>
          </a:prstGeom>
          <a:solidFill>
            <a:srgbClr val="E023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2057400"/>
            <a:ext cx="307238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CE38A"/>
                </a:solidFill>
                <a:latin typeface="Georgia"/>
              </a:defRPr>
            </a:pPr>
            <a:r>
              <a:t>Supabase Cloud + Public APIs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Supabase Postgres: public.stargazer_users &amp; public.celestial_uploads tables with RLS.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Supabase Storage: Public 'celestial-uploads' bucket for verified sky exposures.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Live USNO Moon Phases, IMCCE OPALE Lunar Eclipses, and Open-Meteo NWP Forecast APIs.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23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0231C"/>
                </a:solidFill>
                <a:latin typeface="Consolas"/>
              </a:defRPr>
            </a:pPr>
            <a:r>
              <a:t>03 • CHAPTER III: SPIRIT 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92608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C9A24A"/>
                </a:solidFill>
                <a:latin typeface="Consolas"/>
              </a:defRPr>
            </a:pPr>
            <a:r>
              <a:t>PECathon 2026 • Slide 4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Real-ESRGAN Restoration &amp; Photutils Candidate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0700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68F"/>
                </a:solidFill>
                <a:latin typeface="Calibri"/>
              </a:defRPr>
            </a:pPr>
            <a:r>
              <a:t>Separates non-destructive display stretches (linear, percentile, log, asinh) from scientific floating-point ADU photometry.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5303520" cy="4389120"/>
          </a:xfrm>
          <a:prstGeom prst="roundRect">
            <a:avLst/>
          </a:prstGeom>
          <a:solidFill>
            <a:srgbClr val="0C1018"/>
          </a:solidFill>
          <a:ln w="15875">
            <a:solidFill>
              <a:srgbClr val="C9A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47672"/>
            <a:ext cx="5029200" cy="36576"/>
          </a:xfrm>
          <a:prstGeom prst="rect">
            <a:avLst/>
          </a:prstGeom>
          <a:solidFill>
            <a:srgbClr val="E023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057400"/>
            <a:ext cx="4901183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CE38A"/>
                </a:solidFill>
                <a:latin typeface="Georgia"/>
              </a:defRPr>
            </a:pPr>
            <a:r>
              <a:t>5-Stage Astronomical Detection Pipeline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1. Image &amp; FITS Validation: Decodes JPEG, PNG, WebP, TIFF &amp; FITS HDUs (astropy.io.fits); masks RGBA alpha channels.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2. 2D Background Modeling: Photutils Background2D + MedianBackground + SigmaClip(3.0) across adaptive meshes.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3. Stellar Point-Source Pass: DAOStarFinder + CircularAperture photometry for unresolved stars.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4. Extended Galaxy Segmentation: 2D Gaussian PSF filter + detect_sources + deblend_sources + SourceCatalog.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5. Provenance Cross-Match: Matches original vs. restored detections ('both', 'original_only', 'restored_only').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74519"/>
            <a:ext cx="5303520" cy="4389120"/>
          </a:xfrm>
          <a:prstGeom prst="roundRect">
            <a:avLst/>
          </a:prstGeom>
          <a:solidFill>
            <a:srgbClr val="0C1018"/>
          </a:solidFill>
          <a:ln w="15875">
            <a:solidFill>
              <a:srgbClr val="C9A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47672"/>
            <a:ext cx="5029200" cy="36576"/>
          </a:xfrm>
          <a:prstGeom prst="rect">
            <a:avLst/>
          </a:prstGeom>
          <a:solidFill>
            <a:srgbClr val="E023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2057400"/>
            <a:ext cx="4901183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CE38A"/>
                </a:solidFill>
                <a:latin typeface="Georgia"/>
              </a:defRPr>
            </a:pPr>
            <a:r>
              <a:t>Measured Properties &amp; Scientific Honesty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Astrometry: Zero-based pixel centroid (x_centroid, y_centroid) &amp; bounding box.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Photometry: Peak ADU, background-subtracted segment flux, circular aperture flux, local RMS &amp; SNR.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Morphology: Radial FWHM (px), area (px²), semi-major/minor axes (a, b), ellipticity (1 - b/a), orientation (deg).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4 Candidate Classes: Star-Like Point, Extended-Source, Possible Galaxy, or Uncertain/Artifact.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Interactive HTML5 Canvas overlay + zoomed cutout inspector + CSV &amp; JSON export.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23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0231C"/>
                </a:solidFill>
                <a:latin typeface="Consolas"/>
              </a:defRPr>
            </a:pPr>
            <a:r>
              <a:t>04 • CHAPTERS I, II &amp; IV: LIVE TELEMETRY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92608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C9A24A"/>
                </a:solidFill>
                <a:latin typeface="Consolas"/>
              </a:defRPr>
            </a:pPr>
            <a:r>
              <a:t>PECathon 2026 • Slide 5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USNO, IMCCE &amp; Open-Meteo Integration + Night Honor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0700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68F"/>
                </a:solidFill>
                <a:latin typeface="Calibri"/>
              </a:defRPr>
            </a:pPr>
            <a:r>
              <a:t>Replaces static mock data with live scientific ephemerides and weather forecasts, complete with local timezone conversion and TTL caching.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3474720" cy="2834640"/>
          </a:xfrm>
          <a:prstGeom prst="roundRect">
            <a:avLst/>
          </a:prstGeom>
          <a:solidFill>
            <a:srgbClr val="0C1018"/>
          </a:solidFill>
          <a:ln w="15875">
            <a:solidFill>
              <a:srgbClr val="C9A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47672"/>
            <a:ext cx="3200400" cy="36576"/>
          </a:xfrm>
          <a:prstGeom prst="rect">
            <a:avLst/>
          </a:prstGeom>
          <a:solidFill>
            <a:srgbClr val="E023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057400"/>
            <a:ext cx="307238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CE38A"/>
                </a:solidFill>
                <a:latin typeface="Georgia"/>
              </a:defRPr>
            </a:pPr>
            <a:r>
              <a:t>1. US Naval Observatory (USNO)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Endpoint: aa.usno.navy.mil/api/moon/phases/year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Fetches official New Moon, First Quarter, Full Moon &amp; Last Quarter UTC timestamps.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Computes instantaneous illumination % and lunar age (days).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74519"/>
            <a:ext cx="3474720" cy="2834640"/>
          </a:xfrm>
          <a:prstGeom prst="roundRect">
            <a:avLst/>
          </a:prstGeom>
          <a:solidFill>
            <a:srgbClr val="0C1018"/>
          </a:solidFill>
          <a:ln w="15875">
            <a:solidFill>
              <a:srgbClr val="C9A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947672"/>
            <a:ext cx="3200400" cy="36576"/>
          </a:xfrm>
          <a:prstGeom prst="rect">
            <a:avLst/>
          </a:prstGeom>
          <a:solidFill>
            <a:srgbClr val="E023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2057400"/>
            <a:ext cx="307238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CE38A"/>
                </a:solidFill>
                <a:latin typeface="Georgia"/>
              </a:defRPr>
            </a:pPr>
            <a:r>
              <a:t>2. IMCCE OPALE Lunar Eclipses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Endpoint: opale.imcce.fr/api/v1/phenomena/eclipses/301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INPOP19A ephemeris for Total, Partial &amp; Penumbral lunar eclipses.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Extracts umbral magnitude, durations &amp; zenith coordinates.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74519"/>
            <a:ext cx="3474720" cy="2834640"/>
          </a:xfrm>
          <a:prstGeom prst="roundRect">
            <a:avLst/>
          </a:prstGeom>
          <a:solidFill>
            <a:srgbClr val="0C1018"/>
          </a:solidFill>
          <a:ln w="15875">
            <a:solidFill>
              <a:srgbClr val="C9A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80" y="1947672"/>
            <a:ext cx="3200400" cy="36576"/>
          </a:xfrm>
          <a:prstGeom prst="rect">
            <a:avLst/>
          </a:prstGeom>
          <a:solidFill>
            <a:srgbClr val="E023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2057400"/>
            <a:ext cx="307238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CE38A"/>
                </a:solidFill>
                <a:latin typeface="Georgia"/>
              </a:defRPr>
            </a:pPr>
            <a:r>
              <a:t>3. Open-Meteo Weather API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Endpoint: api.open-meteo.com/v1/forecast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Dynamic coordinate hourly cloud cover, 2m humidity &amp; optical visibility.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Explicitly badged as NWP Forecast (Never Live Telescope Data).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892040"/>
            <a:ext cx="10881360" cy="1417320"/>
          </a:xfrm>
          <a:prstGeom prst="roundRect">
            <a:avLst/>
          </a:prstGeom>
          <a:solidFill>
            <a:srgbClr val="0C1018"/>
          </a:solidFill>
          <a:ln w="15875">
            <a:solidFill>
              <a:srgbClr val="E023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965192"/>
            <a:ext cx="10607040" cy="36576"/>
          </a:xfrm>
          <a:prstGeom prst="rect">
            <a:avLst/>
          </a:prstGeom>
          <a:solidFill>
            <a:srgbClr val="E023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5074920"/>
            <a:ext cx="1047902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CE38A"/>
                </a:solidFill>
                <a:latin typeface="Georgia"/>
              </a:defRPr>
            </a:pPr>
            <a:r>
              <a:t>Transparent Night Honor Score Mathematical Formula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Night Honor Score = (0.53 × ClearSky) + (0.29 × VisibilityScore) + (0.18 × HumidityScore)   |   Automatically rebalances weights if light-pollution sensor data is absent.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23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0231C"/>
                </a:solidFill>
                <a:latin typeface="Consolas"/>
              </a:defRPr>
            </a:pPr>
            <a:r>
              <a:t>05 • CHAPTER V: SAMURAI HONOURS &amp; SUPABASE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92608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C9A24A"/>
                </a:solidFill>
                <a:latin typeface="Consolas"/>
              </a:defRPr>
            </a:pPr>
            <a:r>
              <a:t>PECathon 2026 • Slide 6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Auth-Gated Samurai Honours Web Page &amp; Database Schema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0700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68F"/>
                </a:solidFill>
                <a:latin typeface="Calibri"/>
              </a:defRPr>
            </a:pPr>
            <a:r>
              <a:t>Clicking 'Samurai Honours' in the Navbar triggers Stargazer authentication before unlocking the dedicated Chapter V web page.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5303520" cy="4389120"/>
          </a:xfrm>
          <a:prstGeom prst="roundRect">
            <a:avLst/>
          </a:prstGeom>
          <a:solidFill>
            <a:srgbClr val="0C1018"/>
          </a:solidFill>
          <a:ln w="15875">
            <a:solidFill>
              <a:srgbClr val="C9A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47672"/>
            <a:ext cx="5029200" cy="36576"/>
          </a:xfrm>
          <a:prstGeom prst="rect">
            <a:avLst/>
          </a:prstGeom>
          <a:solidFill>
            <a:srgbClr val="E023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057400"/>
            <a:ext cx="4901183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CE38A"/>
                </a:solidFill>
                <a:latin typeface="Georgia"/>
              </a:defRPr>
            </a:pPr>
            <a:r>
              <a:t>Table 1: public.stargazer_users (Authentication)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id (uuid PK) &amp; auth_user_id (FK -&gt; auth.users)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email (text UNIQUE NOT NULL) &amp; name (text NOT NULL)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password_hash (SHA-256 salted passphrase digest)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location (text) — Home dark-sky sanctuary ground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avatar (text) — Samurai Clan Crest (🌸, 🌙, 🦉, 🏮, 🔭, ⭐)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honor_xp (integer) &amp; rank_title ('Star Seeker' -&gt; 'Grand Astronomer')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stamps (text[]) &amp; registered_at / last_login_at (timestamptz)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74519"/>
            <a:ext cx="5303520" cy="4389120"/>
          </a:xfrm>
          <a:prstGeom prst="roundRect">
            <a:avLst/>
          </a:prstGeom>
          <a:solidFill>
            <a:srgbClr val="0C1018"/>
          </a:solidFill>
          <a:ln w="15875">
            <a:solidFill>
              <a:srgbClr val="C9A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47672"/>
            <a:ext cx="5029200" cy="36576"/>
          </a:xfrm>
          <a:prstGeom prst="rect">
            <a:avLst/>
          </a:prstGeom>
          <a:solidFill>
            <a:srgbClr val="E023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2057400"/>
            <a:ext cx="4901183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CE38A"/>
                </a:solidFill>
                <a:latin typeface="Georgia"/>
              </a:defRPr>
            </a:pPr>
            <a:r>
              <a:t>Table 2: public.celestial_uploads (Images &amp; EXIF)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id (uuid PK) &amp; user_id (FK -&gt; public.stargazer_users.id)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item_id, item_name &amp; category (88 Constellations, Planets, Deep Sky)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camera_make, camera_model &amp; camera_gear (EXIF hardware check)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captured_at (timestamptz) — Night window check (17:00–06:00)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gps_latitude &amp; gps_longitude (double precision dark-sky coords)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image_url &amp; storage_path (Supabase Storage bucket 'celestial-uploads')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verification_passed, match_score, honor_awarded &amp; exif_checks (jsonb)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23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0231C"/>
                </a:solidFill>
                <a:latin typeface="Consolas"/>
              </a:defRPr>
            </a:pPr>
            <a:r>
              <a:t>06 • MULTI-SPECTRAL &amp; TIME-DOMAIN SIDECAR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92608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C9A24A"/>
                </a:solidFill>
                <a:latin typeface="Consolas"/>
              </a:defRPr>
            </a:pPr>
            <a:r>
              <a:t>PECathon 2026 • Slide 7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NASA SkyView Virtual Observatory &amp; Transient Spectral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0700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68F"/>
                </a:solidFill>
                <a:latin typeface="Calibri"/>
              </a:defRPr>
            </a:pPr>
            <a:r>
              <a:t>Slide-out observatory consoles accessible from any chapter for multi-wavelength survey comparison and supernova spectroscopy.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5303520" cy="4389120"/>
          </a:xfrm>
          <a:prstGeom prst="roundRect">
            <a:avLst/>
          </a:prstGeom>
          <a:solidFill>
            <a:srgbClr val="0C1018"/>
          </a:solidFill>
          <a:ln w="15875">
            <a:solidFill>
              <a:srgbClr val="C9A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47672"/>
            <a:ext cx="5029200" cy="36576"/>
          </a:xfrm>
          <a:prstGeom prst="rect">
            <a:avLst/>
          </a:prstGeom>
          <a:solidFill>
            <a:srgbClr val="E023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057400"/>
            <a:ext cx="4901183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CE38A"/>
                </a:solidFill>
                <a:latin typeface="Georgia"/>
              </a:defRPr>
            </a:pPr>
            <a:r>
              <a:t>Sky Lantern Lens — NASA GSFC SkyView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Queries 5 archival wavelength bands: Optical (DSS2 Red), Near-IR (2MASS), Mid-IR (WISE 3.4μm), UV (GALEX), and X-Ray (ROSAT).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Live Simbad / Sesame astronomical name resolver (M31, M42, M45, NGC 1068 -&gt; J2000 RA/Dec).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Interactive side-by-side reticle comparator to inspect user astrophotography against archival NASA HEASARC plates.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Awards Samurai Honor XP when observations are logged to the personal catalog.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74519"/>
            <a:ext cx="5303520" cy="4389120"/>
          </a:xfrm>
          <a:prstGeom prst="roundRect">
            <a:avLst/>
          </a:prstGeom>
          <a:solidFill>
            <a:srgbClr val="0C1018"/>
          </a:solidFill>
          <a:ln w="15875">
            <a:solidFill>
              <a:srgbClr val="C9A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47672"/>
            <a:ext cx="5029200" cy="36576"/>
          </a:xfrm>
          <a:prstGeom prst="rect">
            <a:avLst/>
          </a:prstGeom>
          <a:solidFill>
            <a:srgbClr val="E023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2057400"/>
            <a:ext cx="4901183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CE38A"/>
                </a:solidFill>
                <a:latin typeface="Georgia"/>
              </a:defRPr>
            </a:pPr>
            <a:r>
              <a:t>Transient Spectral &amp; Time-Domain Divination Lab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Classifies transient light curves &amp; spectra across Supernovae (SN Ia, SN II), Kilonovae, Tidal Disruption Events (TDE), and AGN.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Relativistic Doppler shift calculator computes ejecta expansion velocity (km/s and % speed of light) from rest vs. observed lines.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Built-in Web Audio API astronomical sonifier translates magnitude light curves into real-time pitch and timbre sweeps.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23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0231C"/>
                </a:solidFill>
                <a:latin typeface="Consolas"/>
              </a:defRPr>
            </a:pPr>
            <a:r>
              <a:t>07 • VERIFICATION, CLOUD DEPLOYMENT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92608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C9A24A"/>
                </a:solidFill>
                <a:latin typeface="Consolas"/>
              </a:defRPr>
            </a:pPr>
            <a:r>
              <a:t>PECathon 2026 • Slide 8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Production-Ready, Scientifically Verified &amp;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0700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B968F"/>
                </a:solidFill>
                <a:latin typeface="Calibri"/>
              </a:defRPr>
            </a:pPr>
            <a:r>
              <a:t>Complete end-to-end engineering validated by 41 automated backend tests and deployed globally on Vercel + Supabase Cloud.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3474720" cy="2743200"/>
          </a:xfrm>
          <a:prstGeom prst="roundRect">
            <a:avLst/>
          </a:prstGeom>
          <a:solidFill>
            <a:srgbClr val="0C1018"/>
          </a:solidFill>
          <a:ln w="15875">
            <a:solidFill>
              <a:srgbClr val="C9A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47672"/>
            <a:ext cx="3200400" cy="36576"/>
          </a:xfrm>
          <a:prstGeom prst="rect">
            <a:avLst/>
          </a:prstGeom>
          <a:solidFill>
            <a:srgbClr val="E023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057400"/>
            <a:ext cx="307238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CE38A"/>
                </a:solidFill>
                <a:latin typeface="Georgia"/>
              </a:defRPr>
            </a:pPr>
            <a:r>
              <a:t>41 / 41 Automated Tests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35 Photutils/Astropy detection &amp; FITS validation tests.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3 NASA SkyView &amp; Transient lab API tests.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3 Live USNO, IMCCE &amp; Open-Meteo integration tests.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74519"/>
            <a:ext cx="3474720" cy="2743200"/>
          </a:xfrm>
          <a:prstGeom prst="roundRect">
            <a:avLst/>
          </a:prstGeom>
          <a:solidFill>
            <a:srgbClr val="0C1018"/>
          </a:solidFill>
          <a:ln w="15875">
            <a:solidFill>
              <a:srgbClr val="C9A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947672"/>
            <a:ext cx="3200400" cy="36576"/>
          </a:xfrm>
          <a:prstGeom prst="rect">
            <a:avLst/>
          </a:prstGeom>
          <a:solidFill>
            <a:srgbClr val="E023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2057400"/>
            <a:ext cx="307238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CE38A"/>
                </a:solidFill>
                <a:latin typeface="Georgia"/>
              </a:defRPr>
            </a:pPr>
            <a:r>
              <a:t>Live Cloud Infrastructure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Frontend: Deployed on Vercel Global Edge CDN.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Database &amp; Storage: Live on Supabase Postgres (lcwsuzobacqzbutqwmvh).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Backend: Containerized via Dockerfile &amp; render.yaml.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74519"/>
            <a:ext cx="3474720" cy="2743200"/>
          </a:xfrm>
          <a:prstGeom prst="roundRect">
            <a:avLst/>
          </a:prstGeom>
          <a:solidFill>
            <a:srgbClr val="0C1018"/>
          </a:solidFill>
          <a:ln w="15875">
            <a:solidFill>
              <a:srgbClr val="C9A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80" y="1947672"/>
            <a:ext cx="3200400" cy="36576"/>
          </a:xfrm>
          <a:prstGeom prst="rect">
            <a:avLst/>
          </a:prstGeom>
          <a:solidFill>
            <a:srgbClr val="E023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2057400"/>
            <a:ext cx="307238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CE38A"/>
                </a:solidFill>
                <a:latin typeface="Georgia"/>
              </a:defRPr>
            </a:pPr>
            <a:r>
              <a:t>Key Hackathon Differentiators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Real scientific Astropy/Photutils code — zero fake overlays.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Anti-GenAI EXIF camera &amp; GPS verification game.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Unified Japanese Samurai celestial UX.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846320"/>
            <a:ext cx="10881360" cy="1463040"/>
          </a:xfrm>
          <a:prstGeom prst="roundRect">
            <a:avLst/>
          </a:prstGeom>
          <a:solidFill>
            <a:srgbClr val="0C1018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919472"/>
            <a:ext cx="10607040" cy="36576"/>
          </a:xfrm>
          <a:prstGeom prst="rect">
            <a:avLst/>
          </a:prstGeom>
          <a:solidFill>
            <a:srgbClr val="E023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5029200"/>
            <a:ext cx="1047902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CE38A"/>
                </a:solidFill>
                <a:latin typeface="Georgia"/>
              </a:defRPr>
            </a:pPr>
            <a:r>
              <a:t>Live Links for Judges &amp; Reviewers</a:t>
            </a:r>
          </a:p>
          <a:p>
            <a:pPr>
              <a:spcAft>
                <a:spcPts val="500"/>
              </a:spcAft>
              <a:defRPr sz="1150">
                <a:solidFill>
                  <a:srgbClr val="DFE7E0"/>
                </a:solidFill>
                <a:latin typeface="Calibri"/>
              </a:defRPr>
            </a:pPr>
            <a:r>
              <a:t>✦  Production Web App: https://tsukuyomi-watch-mu.vercel.app   |   Official GitHub Repo: https://github.com/PECathon-2026/Team-PF-XBZYZH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